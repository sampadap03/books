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5"/>
  </p:notesMasterIdLst>
  <p:sldIdLst>
    <p:sldId id="260" r:id="rId2"/>
    <p:sldId id="258" r:id="rId3"/>
    <p:sldId id="257" r:id="rId4"/>
    <p:sldId id="268" r:id="rId5"/>
    <p:sldId id="274" r:id="rId6"/>
    <p:sldId id="273" r:id="rId7"/>
    <p:sldId id="272" r:id="rId8"/>
    <p:sldId id="261" r:id="rId9"/>
    <p:sldId id="263" r:id="rId10"/>
    <p:sldId id="264" r:id="rId11"/>
    <p:sldId id="269" r:id="rId12"/>
    <p:sldId id="271" r:id="rId13"/>
    <p:sldId id="267" r:id="rId1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smtClean="0">
                <a:latin typeface="Arial" charset="0"/>
              </a:defRPr>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atin typeface="Arial" charset="0"/>
              </a:defRPr>
            </a:lvl1pPr>
          </a:lstStyle>
          <a:p>
            <a:pPr>
              <a:defRPr/>
            </a:pPr>
            <a:endParaRPr lang="en-US"/>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smtClean="0">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charset="0"/>
              </a:defRPr>
            </a:lvl1pPr>
          </a:lstStyle>
          <a:p>
            <a:pPr>
              <a:defRPr/>
            </a:pPr>
            <a:fld id="{ABCE5554-D193-48DE-8AF0-244EB664310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p>
            <a:fld id="{3DE4033C-8305-466A-8EAD-62CE81CBEE13}" type="slidenum">
              <a:rPr lang="en-US"/>
              <a:pPr/>
              <a:t>2</a:t>
            </a:fld>
            <a:endParaRPr lang="en-US"/>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p>
            <a:fld id="{40F3EF23-6CFA-4178-8640-BE9DA10FCB09}" type="slidenum">
              <a:rPr lang="en-US"/>
              <a:pPr/>
              <a:t>3</a:t>
            </a:fld>
            <a:endParaRPr 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w="9525">
              <a:noFill/>
              <a:miter lim="800000"/>
              <a:headEnd/>
              <a:tailEnd/>
            </a:ln>
            <a:effectLst/>
          </p:spPr>
          <p:txBody>
            <a:bodyPr wrap="none" anchor="ctr"/>
            <a:lstStyle/>
            <a:p>
              <a:pPr>
                <a:defRPr/>
              </a:pPr>
              <a:endParaRPr 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w="9525">
              <a:noFill/>
              <a:miter lim="800000"/>
              <a:headEnd/>
              <a:tailEnd/>
            </a:ln>
            <a:effectLst/>
          </p:spPr>
          <p:txBody>
            <a:bodyPr wrap="none" anchor="ctr"/>
            <a:lstStyle/>
            <a:p>
              <a:pPr>
                <a:defRPr/>
              </a:pPr>
              <a:endParaRPr lang="en-US"/>
            </a:p>
          </p:txBody>
        </p:sp>
      </p:grpSp>
      <p:sp>
        <p:nvSpPr>
          <p:cNvPr id="1536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1536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smtClean="0"/>
            </a:lvl1pPr>
          </a:lstStyle>
          <a:p>
            <a:pPr>
              <a:defRPr/>
            </a:pPr>
            <a:endParaRPr lang="en-US"/>
          </a:p>
        </p:txBody>
      </p:sp>
      <p:sp>
        <p:nvSpPr>
          <p:cNvPr id="9" name="Rectangle 5"/>
          <p:cNvSpPr>
            <a:spLocks noGrp="1" noChangeArrowheads="1"/>
          </p:cNvSpPr>
          <p:nvPr>
            <p:ph type="ftr" sz="quarter" idx="11"/>
          </p:nvPr>
        </p:nvSpPr>
        <p:spPr/>
        <p:txBody>
          <a:bodyPr/>
          <a:lstStyle>
            <a:lvl1pPr>
              <a:defRPr smtClean="0"/>
            </a:lvl1pPr>
          </a:lstStyle>
          <a:p>
            <a:pPr>
              <a:defRPr/>
            </a:pPr>
            <a:endParaRPr lang="en-US"/>
          </a:p>
        </p:txBody>
      </p:sp>
      <p:sp>
        <p:nvSpPr>
          <p:cNvPr id="10" name="Rectangle 6"/>
          <p:cNvSpPr>
            <a:spLocks noGrp="1" noChangeArrowheads="1"/>
          </p:cNvSpPr>
          <p:nvPr>
            <p:ph type="sldNum" sz="quarter" idx="12"/>
          </p:nvPr>
        </p:nvSpPr>
        <p:spPr/>
        <p:txBody>
          <a:bodyPr/>
          <a:lstStyle>
            <a:lvl1pPr>
              <a:defRPr smtClean="0"/>
            </a:lvl1pPr>
          </a:lstStyle>
          <a:p>
            <a:pPr>
              <a:defRPr/>
            </a:pPr>
            <a:fld id="{7A2C6C7D-25F5-4EDF-B880-9F36CE2A231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3718155-627D-40BF-A819-03F0E204AC9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29492D9-FA28-4008-8DBB-D2E7F807D56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35C8341-F5C3-4962-AECB-8E0AC5C9C31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E277134B-8855-4FED-9B73-F59591D2844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686B38D8-DE82-4482-A450-444CA5C4C38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F8749C9-863B-4492-8120-19140CB11285}"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0811AF-6663-46EE-97D6-9572F01EB361}"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D9D6759-380D-4BCA-A4A9-0B826301B4E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2FC84D5-DDD5-4C22-BFE0-5966B7C4345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1D8DDDE-6171-494B-8C2C-1190ADA2448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34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smtClean="0"/>
            </a:lvl1pPr>
          </a:lstStyle>
          <a:p>
            <a:pPr>
              <a:defRPr/>
            </a:pPr>
            <a:endParaRPr lang="en-US"/>
          </a:p>
        </p:txBody>
      </p:sp>
      <p:sp>
        <p:nvSpPr>
          <p:cNvPr id="1434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smtClean="0"/>
            </a:lvl1pPr>
          </a:lstStyle>
          <a:p>
            <a:pPr>
              <a:defRPr/>
            </a:pPr>
            <a:endParaRPr lang="en-US"/>
          </a:p>
        </p:txBody>
      </p:sp>
      <p:sp>
        <p:nvSpPr>
          <p:cNvPr id="1434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0F29CBCE-1524-460F-8976-40202D6C4CFA}" type="slidenum">
              <a:rPr lang="en-US"/>
              <a:pPr>
                <a:defRPr/>
              </a:pPr>
              <a:t>‹#›</a:t>
            </a:fld>
            <a:endParaRPr lang="en-US"/>
          </a:p>
        </p:txBody>
      </p:sp>
      <p:sp>
        <p:nvSpPr>
          <p:cNvPr id="14343" name="Rectangle 7"/>
          <p:cNvSpPr>
            <a:spLocks noChangeArrowheads="1"/>
          </p:cNvSpPr>
          <p:nvPr/>
        </p:nvSpPr>
        <p:spPr bwMode="auto">
          <a:xfrm>
            <a:off x="0" y="0"/>
            <a:ext cx="228600" cy="2286000"/>
          </a:xfrm>
          <a:prstGeom prst="rect">
            <a:avLst/>
          </a:prstGeom>
          <a:solidFill>
            <a:schemeClr val="bg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14344" name="Line 8"/>
          <p:cNvSpPr>
            <a:spLocks noChangeShapeType="1"/>
          </p:cNvSpPr>
          <p:nvPr/>
        </p:nvSpPr>
        <p:spPr bwMode="auto">
          <a:xfrm>
            <a:off x="457200" y="1447800"/>
            <a:ext cx="8077200" cy="0"/>
          </a:xfrm>
          <a:prstGeom prst="line">
            <a:avLst/>
          </a:prstGeom>
          <a:noFill/>
          <a:ln w="19050">
            <a:solidFill>
              <a:schemeClr val="tx2"/>
            </a:solidFill>
            <a:round/>
            <a:headEnd/>
            <a:tailEnd/>
          </a:ln>
          <a:effectLst/>
        </p:spPr>
        <p:txBody>
          <a:bodyPr/>
          <a:lstStyle/>
          <a:p>
            <a:pPr>
              <a:defRPr/>
            </a:pPr>
            <a:endParaRPr lang="en-US"/>
          </a:p>
        </p:txBody>
      </p:sp>
      <p:sp>
        <p:nvSpPr>
          <p:cNvPr id="14345" name="Rectangle 9"/>
          <p:cNvSpPr>
            <a:spLocks noChangeArrowheads="1"/>
          </p:cNvSpPr>
          <p:nvPr/>
        </p:nvSpPr>
        <p:spPr bwMode="auto">
          <a:xfrm>
            <a:off x="0" y="2286000"/>
            <a:ext cx="228600" cy="2286000"/>
          </a:xfrm>
          <a:prstGeom prst="rect">
            <a:avLst/>
          </a:prstGeom>
          <a:solidFill>
            <a:schemeClr val="accent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14346" name="Rectangle 10"/>
          <p:cNvSpPr>
            <a:spLocks noChangeArrowheads="1"/>
          </p:cNvSpPr>
          <p:nvPr/>
        </p:nvSpPr>
        <p:spPr bwMode="auto">
          <a:xfrm>
            <a:off x="0" y="4572000"/>
            <a:ext cx="228600" cy="2286000"/>
          </a:xfrm>
          <a:prstGeom prst="rect">
            <a:avLst/>
          </a:prstGeom>
          <a:solidFill>
            <a:schemeClr val="tx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80" r:id="rId1"/>
    <p:sldLayoutId id="2147483679" r:id="rId2"/>
    <p:sldLayoutId id="2147483678" r:id="rId3"/>
    <p:sldLayoutId id="2147483677" r:id="rId4"/>
    <p:sldLayoutId id="2147483676" r:id="rId5"/>
    <p:sldLayoutId id="2147483675" r:id="rId6"/>
    <p:sldLayoutId id="2147483674" r:id="rId7"/>
    <p:sldLayoutId id="2147483673" r:id="rId8"/>
    <p:sldLayoutId id="2147483672" r:id="rId9"/>
    <p:sldLayoutId id="2147483671" r:id="rId10"/>
    <p:sldLayoutId id="2147483670"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Garamond" pitchFamily="18" charset="0"/>
        </a:defRPr>
      </a:lvl2pPr>
      <a:lvl3pPr algn="l" rtl="0" eaLnBrk="0" fontAlgn="base" hangingPunct="0">
        <a:spcBef>
          <a:spcPct val="0"/>
        </a:spcBef>
        <a:spcAft>
          <a:spcPct val="0"/>
        </a:spcAft>
        <a:defRPr sz="4400">
          <a:solidFill>
            <a:schemeClr val="tx2"/>
          </a:solidFill>
          <a:latin typeface="Garamond" pitchFamily="18" charset="0"/>
        </a:defRPr>
      </a:lvl3pPr>
      <a:lvl4pPr algn="l" rtl="0" eaLnBrk="0" fontAlgn="base" hangingPunct="0">
        <a:spcBef>
          <a:spcPct val="0"/>
        </a:spcBef>
        <a:spcAft>
          <a:spcPct val="0"/>
        </a:spcAft>
        <a:defRPr sz="4400">
          <a:solidFill>
            <a:schemeClr val="tx2"/>
          </a:solidFill>
          <a:latin typeface="Garamond" pitchFamily="18" charset="0"/>
        </a:defRPr>
      </a:lvl4pPr>
      <a:lvl5pPr algn="l" rtl="0" eaLnBrk="0" fontAlgn="base" hangingPunct="0">
        <a:spcBef>
          <a:spcPct val="0"/>
        </a:spcBef>
        <a:spcAft>
          <a:spcPct val="0"/>
        </a:spcAft>
        <a:defRPr sz="4400">
          <a:solidFill>
            <a:schemeClr val="tx2"/>
          </a:solidFill>
          <a:latin typeface="Garamond" pitchFamily="18" charset="0"/>
        </a:defRPr>
      </a:lvl5pPr>
      <a:lvl6pPr marL="457200" algn="l" rtl="0" fontAlgn="base">
        <a:spcBef>
          <a:spcPct val="0"/>
        </a:spcBef>
        <a:spcAft>
          <a:spcPct val="0"/>
        </a:spcAft>
        <a:defRPr sz="4400">
          <a:solidFill>
            <a:schemeClr val="tx2"/>
          </a:solidFill>
          <a:latin typeface="Garamond" pitchFamily="18" charset="0"/>
        </a:defRPr>
      </a:lvl6pPr>
      <a:lvl7pPr marL="914400" algn="l" rtl="0" fontAlgn="base">
        <a:spcBef>
          <a:spcPct val="0"/>
        </a:spcBef>
        <a:spcAft>
          <a:spcPct val="0"/>
        </a:spcAft>
        <a:defRPr sz="4400">
          <a:solidFill>
            <a:schemeClr val="tx2"/>
          </a:solidFill>
          <a:latin typeface="Garamond" pitchFamily="18" charset="0"/>
        </a:defRPr>
      </a:lvl7pPr>
      <a:lvl8pPr marL="1371600" algn="l" rtl="0" fontAlgn="base">
        <a:spcBef>
          <a:spcPct val="0"/>
        </a:spcBef>
        <a:spcAft>
          <a:spcPct val="0"/>
        </a:spcAft>
        <a:defRPr sz="4400">
          <a:solidFill>
            <a:schemeClr val="tx2"/>
          </a:solidFill>
          <a:latin typeface="Garamond" pitchFamily="18" charset="0"/>
        </a:defRPr>
      </a:lvl8pPr>
      <a:lvl9pPr marL="1828800" algn="l" rtl="0" fontAlgn="base">
        <a:spcBef>
          <a:spcPct val="0"/>
        </a:spcBef>
        <a:spcAft>
          <a:spcPct val="0"/>
        </a:spcAft>
        <a:defRPr sz="44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n"/>
        <a:defRPr sz="2400">
          <a:solidFill>
            <a:schemeClr val="tx1"/>
          </a:solidFill>
          <a:latin typeface="+mn-lt"/>
        </a:defRPr>
      </a:lvl2pPr>
      <a:lvl3pPr marL="1143000" indent="-228600" algn="l" rtl="0" eaLnBrk="0" fontAlgn="base" hangingPunct="0">
        <a:spcBef>
          <a:spcPct val="20000"/>
        </a:spcBef>
        <a:spcAft>
          <a:spcPct val="0"/>
        </a:spcAft>
        <a:buClr>
          <a:schemeClr val="accent1"/>
        </a:buClr>
        <a:buSzPct val="65000"/>
        <a:buFont typeface="Wingdings" pitchFamily="2" charset="2"/>
        <a:buChar char="p"/>
        <a:defRPr sz="2000">
          <a:solidFill>
            <a:schemeClr val="tx1"/>
          </a:solidFill>
          <a:latin typeface="+mn-lt"/>
        </a:defRPr>
      </a:lvl3pPr>
      <a:lvl4pPr marL="16002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SzPct val="80000"/>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05jUkVtIwVs" TargetMode="External"/><Relationship Id="rId2" Type="http://schemas.openxmlformats.org/officeDocument/2006/relationships/hyperlink" Target="http://www.sosmath.com/fourier/fourier1/fourier1.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FOURIER ANALYSIS OF SIGNAL</a:t>
            </a:r>
          </a:p>
        </p:txBody>
      </p:sp>
      <p:sp>
        <p:nvSpPr>
          <p:cNvPr id="6" name="Subtitle 5"/>
          <p:cNvSpPr>
            <a:spLocks noGrp="1"/>
          </p:cNvSpPr>
          <p:nvPr>
            <p:ph type="subTitle" idx="1"/>
          </p:nvPr>
        </p:nvSpPr>
        <p:spPr>
          <a:xfrm>
            <a:off x="4876800" y="3581400"/>
            <a:ext cx="3886200" cy="2209800"/>
          </a:xfrm>
        </p:spPr>
        <p:txBody>
          <a:bodyPr/>
          <a:lstStyle/>
          <a:p>
            <a:pPr algn="l"/>
            <a:r>
              <a:rPr lang="en-US" sz="2400" dirty="0"/>
              <a:t>Presented By-</a:t>
            </a:r>
          </a:p>
          <a:p>
            <a:pPr algn="l"/>
            <a:r>
              <a:rPr lang="en-US" sz="2400" dirty="0"/>
              <a:t>Name 1 (Roll No.)</a:t>
            </a:r>
          </a:p>
          <a:p>
            <a:pPr algn="l"/>
            <a:r>
              <a:rPr lang="en-US" sz="2400" dirty="0"/>
              <a:t>Name 2 (Roll No.)</a:t>
            </a:r>
          </a:p>
          <a:p>
            <a:pPr algn="l"/>
            <a:r>
              <a:rPr lang="en-US" sz="2400" dirty="0"/>
              <a:t>Name 3 (Roll No.)</a:t>
            </a:r>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33718155-627D-40BF-A819-03F0E204AC94}" type="slidenum">
              <a:rPr lang="en-US" smtClean="0"/>
              <a:pPr>
                <a:defRPr/>
              </a:pPr>
              <a:t>1</a:t>
            </a:fld>
            <a:endParaRPr lang="en-US"/>
          </a:p>
        </p:txBody>
      </p:sp>
      <p:sp>
        <p:nvSpPr>
          <p:cNvPr id="7" name="Rectangle 6"/>
          <p:cNvSpPr/>
          <p:nvPr/>
        </p:nvSpPr>
        <p:spPr>
          <a:xfrm>
            <a:off x="914400" y="0"/>
            <a:ext cx="7620000" cy="923330"/>
          </a:xfrm>
          <a:prstGeom prst="rect">
            <a:avLst/>
          </a:prstGeom>
        </p:spPr>
        <p:txBody>
          <a:bodyPr wrap="square">
            <a:spAutoFit/>
          </a:bodyPr>
          <a:lstStyle/>
          <a:p>
            <a:pPr algn="ctr"/>
            <a:r>
              <a:rPr lang="en-US" dirty="0" err="1">
                <a:latin typeface="+mn-lt"/>
                <a:cs typeface="Tahoma" pitchFamily="34" charset="0"/>
              </a:rPr>
              <a:t>Vishwakarma</a:t>
            </a:r>
            <a:r>
              <a:rPr lang="en-US" dirty="0">
                <a:latin typeface="+mn-lt"/>
                <a:cs typeface="Tahoma" pitchFamily="34" charset="0"/>
              </a:rPr>
              <a:t> Institute of Technology, Pune-37</a:t>
            </a:r>
          </a:p>
          <a:p>
            <a:pPr algn="ctr"/>
            <a:r>
              <a:rPr lang="en-US" dirty="0">
                <a:latin typeface="+mn-lt"/>
                <a:cs typeface="Tahoma" pitchFamily="34" charset="0"/>
              </a:rPr>
              <a:t>Department of Electronics and Telecommunication Engineering</a:t>
            </a:r>
          </a:p>
          <a:p>
            <a:pPr algn="ctr"/>
            <a:endParaRPr lang="en-US" dirty="0">
              <a:solidFill>
                <a:schemeClr val="bg2"/>
              </a:solidFill>
            </a:endParaRPr>
          </a:p>
        </p:txBody>
      </p:sp>
      <p:sp>
        <p:nvSpPr>
          <p:cNvPr id="9" name="Subtitle 5"/>
          <p:cNvSpPr txBox="1">
            <a:spLocks/>
          </p:cNvSpPr>
          <p:nvPr/>
        </p:nvSpPr>
        <p:spPr bwMode="auto">
          <a:xfrm>
            <a:off x="152400" y="4953000"/>
            <a:ext cx="3886200" cy="106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Guided By-</a:t>
            </a: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Prof. M. S. </a:t>
            </a:r>
            <a:r>
              <a:rPr kumimoji="0" lang="en-US" sz="2400" b="0" i="0" u="none" strike="noStrike" kern="0" cap="none" spc="0" normalizeH="0" baseline="0" noProof="0" dirty="0" err="1">
                <a:ln>
                  <a:noFill/>
                </a:ln>
                <a:solidFill>
                  <a:schemeClr val="tx1"/>
                </a:solidFill>
                <a:effectLst/>
                <a:uLnTx/>
                <a:uFillTx/>
                <a:latin typeface="+mn-lt"/>
                <a:ea typeface="+mn-ea"/>
                <a:cs typeface="+mn-cs"/>
              </a:rPr>
              <a:t>Deshpande</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endParaRPr kumimoji="0" lang="en-US" sz="3000" b="0"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endParaRPr kumimoji="0" lang="en-US" sz="3000" b="0" i="0" u="none" strike="noStrike" kern="0" cap="none" spc="0" normalizeH="0" baseline="0" noProof="0" dirty="0">
              <a:ln>
                <a:noFill/>
              </a:ln>
              <a:solidFill>
                <a:schemeClr val="tx1"/>
              </a:solidFill>
              <a:effectLst/>
              <a:uLnTx/>
              <a:uFillTx/>
              <a:latin typeface="+mn-lt"/>
              <a:ea typeface="+mn-ea"/>
              <a:cs typeface="+mn-cs"/>
            </a:endParaRPr>
          </a:p>
        </p:txBody>
      </p:sp>
      <p:sp>
        <p:nvSpPr>
          <p:cNvPr id="8" name="Subtitle 5"/>
          <p:cNvSpPr txBox="1">
            <a:spLocks/>
          </p:cNvSpPr>
          <p:nvPr/>
        </p:nvSpPr>
        <p:spPr bwMode="auto">
          <a:xfrm>
            <a:off x="914400" y="3200400"/>
            <a:ext cx="2514600"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r>
              <a:rPr kumimoji="0" lang="en-US" sz="2400" b="0" i="0" u="none" strike="noStrike" kern="0" cap="none" spc="0" normalizeH="0" baseline="0" noProof="0" dirty="0">
                <a:ln>
                  <a:noFill/>
                </a:ln>
                <a:solidFill>
                  <a:srgbClr val="7030A0"/>
                </a:solidFill>
                <a:effectLst/>
                <a:uLnTx/>
                <a:uFillTx/>
                <a:latin typeface="+mn-lt"/>
                <a:ea typeface="+mn-ea"/>
                <a:cs typeface="+mn-cs"/>
              </a:rPr>
              <a:t>Presentation-I</a:t>
            </a: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endParaRPr kumimoji="0" lang="en-US" sz="3000" b="0"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itchFamily="2" charset="2"/>
              <a:buNone/>
              <a:tabLst/>
              <a:defRPr/>
            </a:pPr>
            <a:endParaRPr kumimoji="0" lang="en-US" sz="30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p:spPr>
        <p:txBody>
          <a:bodyPr/>
          <a:lstStyle/>
          <a:p>
            <a:fld id="{03C985B1-9613-4E86-A4E2-C2F26F39DDE0}" type="slidenum">
              <a:rPr lang="en-US"/>
              <a:pPr/>
              <a:t>2</a:t>
            </a:fld>
            <a:endParaRPr lang="en-US" dirty="0"/>
          </a:p>
        </p:txBody>
      </p:sp>
      <p:sp>
        <p:nvSpPr>
          <p:cNvPr id="4099" name="Rectangle 2"/>
          <p:cNvSpPr>
            <a:spLocks noGrp="1" noChangeArrowheads="1"/>
          </p:cNvSpPr>
          <p:nvPr>
            <p:ph type="title"/>
          </p:nvPr>
        </p:nvSpPr>
        <p:spPr/>
        <p:txBody>
          <a:bodyPr/>
          <a:lstStyle/>
          <a:p>
            <a:pPr eaLnBrk="1" hangingPunct="1"/>
            <a:r>
              <a:rPr lang="en-US" sz="4000" b="1" dirty="0"/>
              <a:t>Outline</a:t>
            </a:r>
          </a:p>
        </p:txBody>
      </p:sp>
      <p:sp>
        <p:nvSpPr>
          <p:cNvPr id="4100" name="Rectangle 3"/>
          <p:cNvSpPr>
            <a:spLocks noGrp="1" noChangeArrowheads="1"/>
          </p:cNvSpPr>
          <p:nvPr>
            <p:ph type="body" idx="1"/>
          </p:nvPr>
        </p:nvSpPr>
        <p:spPr/>
        <p:txBody>
          <a:bodyPr/>
          <a:lstStyle/>
          <a:p>
            <a:pPr eaLnBrk="1" hangingPunct="1"/>
            <a:r>
              <a:rPr lang="en-US" sz="2400" dirty="0"/>
              <a:t>Abstract</a:t>
            </a:r>
          </a:p>
          <a:p>
            <a:pPr eaLnBrk="1" hangingPunct="1"/>
            <a:r>
              <a:rPr lang="en-US" sz="2400" dirty="0"/>
              <a:t>Literature survey</a:t>
            </a:r>
          </a:p>
          <a:p>
            <a:pPr eaLnBrk="1" hangingPunct="1"/>
            <a:r>
              <a:rPr lang="en-US" sz="2400" dirty="0"/>
              <a:t>Objectives</a:t>
            </a:r>
          </a:p>
          <a:p>
            <a:pPr eaLnBrk="1" hangingPunct="1"/>
            <a:r>
              <a:rPr lang="en-US" sz="2400" dirty="0"/>
              <a:t>Methodology</a:t>
            </a:r>
          </a:p>
          <a:p>
            <a:pPr eaLnBrk="1" hangingPunct="1"/>
            <a:r>
              <a:rPr lang="en-US" sz="2400" dirty="0"/>
              <a:t>GUI View</a:t>
            </a:r>
          </a:p>
          <a:p>
            <a:pPr eaLnBrk="1" hangingPunct="1"/>
            <a:r>
              <a:rPr lang="en-US" sz="2400" dirty="0"/>
              <a:t>Applications</a:t>
            </a:r>
          </a:p>
          <a:p>
            <a:pPr eaLnBrk="1" hangingPunct="1"/>
            <a:r>
              <a:rPr lang="en-US" sz="2400" dirty="0"/>
              <a:t>Time Plan</a:t>
            </a:r>
          </a:p>
          <a:p>
            <a:pPr eaLnBrk="1" hangingPunct="1"/>
            <a:r>
              <a:rPr lang="en-US" sz="2400" dirty="0"/>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p>
            <a:fld id="{727A6956-5223-461B-97E6-129B92AD27FC}" type="slidenum">
              <a:rPr lang="en-US"/>
              <a:pPr/>
              <a:t>3</a:t>
            </a:fld>
            <a:endParaRPr lang="en-US"/>
          </a:p>
        </p:txBody>
      </p:sp>
      <p:sp>
        <p:nvSpPr>
          <p:cNvPr id="5123" name="Rectangle 2"/>
          <p:cNvSpPr>
            <a:spLocks noGrp="1" noChangeArrowheads="1"/>
          </p:cNvSpPr>
          <p:nvPr>
            <p:ph type="title"/>
          </p:nvPr>
        </p:nvSpPr>
        <p:spPr/>
        <p:txBody>
          <a:bodyPr/>
          <a:lstStyle/>
          <a:p>
            <a:pPr eaLnBrk="1" hangingPunct="1"/>
            <a:r>
              <a:rPr lang="en-US" sz="4000" b="1" dirty="0"/>
              <a:t>Abstract</a:t>
            </a:r>
          </a:p>
        </p:txBody>
      </p:sp>
      <p:sp>
        <p:nvSpPr>
          <p:cNvPr id="5124" name="Rectangle 3"/>
          <p:cNvSpPr>
            <a:spLocks noGrp="1" noChangeArrowheads="1"/>
          </p:cNvSpPr>
          <p:nvPr>
            <p:ph type="body" idx="1"/>
          </p:nvPr>
        </p:nvSpPr>
        <p:spPr/>
        <p:txBody>
          <a:bodyPr/>
          <a:lstStyle/>
          <a:p>
            <a:pPr eaLnBrk="1" hangingPunct="1"/>
            <a:r>
              <a:rPr lang="en-US" sz="2400" dirty="0"/>
              <a:t>In this project we will be presenting a GUI in which input signal is chosen by user and magnitude and phase plots are displayed.</a:t>
            </a:r>
          </a:p>
          <a:p>
            <a:pPr eaLnBrk="1" hangingPunct="1"/>
            <a:r>
              <a:rPr lang="en-US" sz="2400" dirty="0"/>
              <a:t>Using MATLAB UI user can get Fourier series for triangular, square wave, sawtooth, full and half wave rectified cosine and sine signals. It displays time domain representation of signal, phase, magnitude and can change harmonics.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Literature Review</a:t>
            </a:r>
          </a:p>
        </p:txBody>
      </p:sp>
      <p:sp>
        <p:nvSpPr>
          <p:cNvPr id="3" name="Content Placeholder 2"/>
          <p:cNvSpPr>
            <a:spLocks noGrp="1"/>
          </p:cNvSpPr>
          <p:nvPr>
            <p:ph idx="1"/>
          </p:nvPr>
        </p:nvSpPr>
        <p:spPr/>
        <p:txBody>
          <a:bodyPr/>
          <a:lstStyle/>
          <a:p>
            <a:r>
              <a:rPr lang="en-US" sz="2400" dirty="0">
                <a:hlinkClick r:id="rId2"/>
              </a:rPr>
              <a:t>http://www.sosmath.com/fourier/fourier1/fourier1.html</a:t>
            </a:r>
            <a:endParaRPr lang="en-US" sz="2400" dirty="0"/>
          </a:p>
          <a:p>
            <a:r>
              <a:rPr lang="en-US" dirty="0">
                <a:solidFill>
                  <a:schemeClr val="tx1"/>
                </a:solidFill>
                <a:latin typeface="+mn-lt"/>
                <a:ea typeface="+mn-ea"/>
                <a:cs typeface="+mn-cs"/>
              </a:rPr>
              <a:t>We studied about Fourier series from</a:t>
            </a:r>
            <a:r>
              <a:rPr lang="en-US" dirty="0"/>
              <a:t> class notes, Ramesh </a:t>
            </a:r>
            <a:r>
              <a:rPr lang="en-US" dirty="0" err="1"/>
              <a:t>Babu</a:t>
            </a:r>
            <a:r>
              <a:rPr lang="en-US" dirty="0"/>
              <a:t> and YouTube.</a:t>
            </a:r>
          </a:p>
          <a:p>
            <a:r>
              <a:rPr lang="en-US" dirty="0">
                <a:solidFill>
                  <a:schemeClr val="tx1"/>
                </a:solidFill>
                <a:latin typeface="+mn-lt"/>
                <a:ea typeface="+mn-ea"/>
                <a:cs typeface="+mn-cs"/>
              </a:rPr>
              <a:t>Any non sinusoidal function represented as sum of infinite sum of sinusoidal signals</a:t>
            </a:r>
          </a:p>
          <a:p>
            <a:r>
              <a:rPr lang="en-US" dirty="0">
                <a:hlinkClick r:id="rId3"/>
              </a:rPr>
              <a:t>https://www.youtube.com/watch?v=05jUkVtIwVs</a:t>
            </a:r>
            <a:endParaRPr lang="en-US" dirty="0"/>
          </a:p>
          <a:p>
            <a:endParaRPr lang="en-US" dirty="0">
              <a:solidFill>
                <a:schemeClr val="tx1"/>
              </a:solidFill>
              <a:latin typeface="+mn-lt"/>
              <a:ea typeface="+mn-ea"/>
              <a:cs typeface="+mn-cs"/>
            </a:endParaRPr>
          </a:p>
          <a:p>
            <a:endParaRPr lang="en-US"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2"/>
          </p:nvPr>
        </p:nvSpPr>
        <p:spPr/>
        <p:txBody>
          <a:bodyPr/>
          <a:lstStyle/>
          <a:p>
            <a:pPr>
              <a:defRPr/>
            </a:pPr>
            <a:fld id="{33718155-627D-40BF-A819-03F0E204AC94}"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C065B-824D-4802-B403-E4ECC445ECDE}"/>
              </a:ext>
            </a:extLst>
          </p:cNvPr>
          <p:cNvSpPr>
            <a:spLocks noGrp="1"/>
          </p:cNvSpPr>
          <p:nvPr>
            <p:ph type="title"/>
          </p:nvPr>
        </p:nvSpPr>
        <p:spPr/>
        <p:txBody>
          <a:bodyPr/>
          <a:lstStyle/>
          <a:p>
            <a:r>
              <a:rPr lang="en-IN" dirty="0"/>
              <a:t>General Equation</a:t>
            </a:r>
          </a:p>
        </p:txBody>
      </p:sp>
      <p:sp>
        <p:nvSpPr>
          <p:cNvPr id="4" name="Slide Number Placeholder 3">
            <a:extLst>
              <a:ext uri="{FF2B5EF4-FFF2-40B4-BE49-F238E27FC236}">
                <a16:creationId xmlns:a16="http://schemas.microsoft.com/office/drawing/2014/main" id="{2F1E9CFF-8304-4E57-9117-298E37BA2F7C}"/>
              </a:ext>
            </a:extLst>
          </p:cNvPr>
          <p:cNvSpPr>
            <a:spLocks noGrp="1"/>
          </p:cNvSpPr>
          <p:nvPr>
            <p:ph type="sldNum" sz="quarter" idx="12"/>
          </p:nvPr>
        </p:nvSpPr>
        <p:spPr/>
        <p:txBody>
          <a:bodyPr/>
          <a:lstStyle/>
          <a:p>
            <a:pPr>
              <a:defRPr/>
            </a:pPr>
            <a:fld id="{33718155-627D-40BF-A819-03F0E204AC94}" type="slidenum">
              <a:rPr lang="en-US" smtClean="0"/>
              <a:pPr>
                <a:defRPr/>
              </a:pPr>
              <a:t>5</a:t>
            </a:fld>
            <a:endParaRPr lang="en-US"/>
          </a:p>
        </p:txBody>
      </p:sp>
      <p:pic>
        <p:nvPicPr>
          <p:cNvPr id="3074" name="Picture 2" descr="Image result for fourier series equation">
            <a:extLst>
              <a:ext uri="{FF2B5EF4-FFF2-40B4-BE49-F238E27FC236}">
                <a16:creationId xmlns:a16="http://schemas.microsoft.com/office/drawing/2014/main" id="{71666684-C991-427D-8DA7-105B65C3760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3335" y="2312193"/>
            <a:ext cx="6869654" cy="2636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280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6E360-51FD-4223-9D53-7697141FEE00}"/>
              </a:ext>
            </a:extLst>
          </p:cNvPr>
          <p:cNvSpPr>
            <a:spLocks noGrp="1"/>
          </p:cNvSpPr>
          <p:nvPr>
            <p:ph type="title"/>
          </p:nvPr>
        </p:nvSpPr>
        <p:spPr/>
        <p:txBody>
          <a:bodyPr/>
          <a:lstStyle/>
          <a:p>
            <a:r>
              <a:rPr lang="en-IN" dirty="0"/>
              <a:t>Coefficients</a:t>
            </a:r>
          </a:p>
        </p:txBody>
      </p:sp>
      <p:sp>
        <p:nvSpPr>
          <p:cNvPr id="4" name="Slide Number Placeholder 3">
            <a:extLst>
              <a:ext uri="{FF2B5EF4-FFF2-40B4-BE49-F238E27FC236}">
                <a16:creationId xmlns:a16="http://schemas.microsoft.com/office/drawing/2014/main" id="{BC8366B8-9249-4519-8DB2-2AF8E354BC7D}"/>
              </a:ext>
            </a:extLst>
          </p:cNvPr>
          <p:cNvSpPr>
            <a:spLocks noGrp="1"/>
          </p:cNvSpPr>
          <p:nvPr>
            <p:ph type="sldNum" sz="quarter" idx="12"/>
          </p:nvPr>
        </p:nvSpPr>
        <p:spPr/>
        <p:txBody>
          <a:bodyPr/>
          <a:lstStyle/>
          <a:p>
            <a:pPr>
              <a:defRPr/>
            </a:pPr>
            <a:fld id="{33718155-627D-40BF-A819-03F0E204AC94}" type="slidenum">
              <a:rPr lang="en-US" smtClean="0"/>
              <a:pPr>
                <a:defRPr/>
              </a:pPr>
              <a:t>6</a:t>
            </a:fld>
            <a:endParaRPr lang="en-US"/>
          </a:p>
        </p:txBody>
      </p:sp>
      <p:pic>
        <p:nvPicPr>
          <p:cNvPr id="2050" name="Picture 2" descr="Image result for fourier series photos">
            <a:extLst>
              <a:ext uri="{FF2B5EF4-FFF2-40B4-BE49-F238E27FC236}">
                <a16:creationId xmlns:a16="http://schemas.microsoft.com/office/drawing/2014/main" id="{D0E2C44A-2329-45E5-AB86-AF7E200462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2197893"/>
            <a:ext cx="5815878" cy="2713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760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76216-F0E6-4E8D-BFCE-D84DF34BED10}"/>
              </a:ext>
            </a:extLst>
          </p:cNvPr>
          <p:cNvSpPr>
            <a:spLocks noGrp="1"/>
          </p:cNvSpPr>
          <p:nvPr>
            <p:ph type="title"/>
          </p:nvPr>
        </p:nvSpPr>
        <p:spPr/>
        <p:txBody>
          <a:bodyPr/>
          <a:lstStyle/>
          <a:p>
            <a:r>
              <a:rPr lang="en-IN" dirty="0"/>
              <a:t>Representation</a:t>
            </a:r>
          </a:p>
        </p:txBody>
      </p:sp>
      <p:sp>
        <p:nvSpPr>
          <p:cNvPr id="4" name="Slide Number Placeholder 3">
            <a:extLst>
              <a:ext uri="{FF2B5EF4-FFF2-40B4-BE49-F238E27FC236}">
                <a16:creationId xmlns:a16="http://schemas.microsoft.com/office/drawing/2014/main" id="{5E657D03-8A00-4790-9E66-FB69B3C182E9}"/>
              </a:ext>
            </a:extLst>
          </p:cNvPr>
          <p:cNvSpPr>
            <a:spLocks noGrp="1"/>
          </p:cNvSpPr>
          <p:nvPr>
            <p:ph type="sldNum" sz="quarter" idx="12"/>
          </p:nvPr>
        </p:nvSpPr>
        <p:spPr/>
        <p:txBody>
          <a:bodyPr/>
          <a:lstStyle/>
          <a:p>
            <a:pPr>
              <a:defRPr/>
            </a:pPr>
            <a:fld id="{33718155-627D-40BF-A819-03F0E204AC94}" type="slidenum">
              <a:rPr lang="en-US" smtClean="0"/>
              <a:pPr>
                <a:defRPr/>
              </a:pPr>
              <a:t>7</a:t>
            </a:fld>
            <a:endParaRPr lang="en-US"/>
          </a:p>
        </p:txBody>
      </p:sp>
      <p:pic>
        <p:nvPicPr>
          <p:cNvPr id="1026" name="Picture 2" descr="Image result for fourier series photos">
            <a:extLst>
              <a:ext uri="{FF2B5EF4-FFF2-40B4-BE49-F238E27FC236}">
                <a16:creationId xmlns:a16="http://schemas.microsoft.com/office/drawing/2014/main" id="{89E216E4-0145-457B-A33F-9A6C94334F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7538" y="1614731"/>
            <a:ext cx="7282062" cy="4481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060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a:t>
            </a:r>
          </a:p>
        </p:txBody>
      </p:sp>
      <p:sp>
        <p:nvSpPr>
          <p:cNvPr id="3" name="Content Placeholder 2"/>
          <p:cNvSpPr>
            <a:spLocks noGrp="1"/>
          </p:cNvSpPr>
          <p:nvPr>
            <p:ph idx="1"/>
          </p:nvPr>
        </p:nvSpPr>
        <p:spPr/>
        <p:txBody>
          <a:bodyPr/>
          <a:lstStyle/>
          <a:p>
            <a:r>
              <a:rPr lang="en-US" dirty="0">
                <a:solidFill>
                  <a:schemeClr val="tx1"/>
                </a:solidFill>
                <a:latin typeface="+mn-lt"/>
                <a:ea typeface="+mn-ea"/>
                <a:cs typeface="+mn-cs"/>
              </a:rPr>
              <a:t>A project objective describes the desired results of a project, which often includes a tangible item. </a:t>
            </a:r>
          </a:p>
          <a:p>
            <a:r>
              <a:rPr lang="en-US" dirty="0">
                <a:solidFill>
                  <a:schemeClr val="tx1"/>
                </a:solidFill>
                <a:latin typeface="+mn-lt"/>
                <a:ea typeface="+mn-ea"/>
                <a:cs typeface="+mn-cs"/>
              </a:rPr>
              <a:t>An objective should be </a:t>
            </a:r>
            <a:r>
              <a:rPr lang="en-US" dirty="0">
                <a:solidFill>
                  <a:srgbClr val="FF0000"/>
                </a:solidFill>
                <a:latin typeface="+mn-lt"/>
                <a:ea typeface="+mn-ea"/>
                <a:cs typeface="+mn-cs"/>
              </a:rPr>
              <a:t>specific, measurable</a:t>
            </a:r>
            <a:r>
              <a:rPr lang="en-US" dirty="0">
                <a:solidFill>
                  <a:srgbClr val="FF0000"/>
                </a:solidFill>
              </a:rPr>
              <a:t> </a:t>
            </a:r>
            <a:r>
              <a:rPr lang="en-US" dirty="0"/>
              <a:t>and</a:t>
            </a:r>
            <a:r>
              <a:rPr lang="en-US" dirty="0">
                <a:solidFill>
                  <a:srgbClr val="FF0000"/>
                </a:solidFill>
              </a:rPr>
              <a:t> </a:t>
            </a:r>
            <a:r>
              <a:rPr lang="en-US" dirty="0">
                <a:solidFill>
                  <a:srgbClr val="FF0000"/>
                </a:solidFill>
                <a:latin typeface="+mn-lt"/>
                <a:ea typeface="+mn-ea"/>
                <a:cs typeface="+mn-cs"/>
              </a:rPr>
              <a:t>achievable</a:t>
            </a:r>
            <a:r>
              <a:rPr lang="en-US" dirty="0">
                <a:solidFill>
                  <a:schemeClr val="tx1"/>
                </a:solidFill>
                <a:latin typeface="+mn-lt"/>
                <a:ea typeface="+mn-ea"/>
                <a:cs typeface="+mn-cs"/>
              </a:rPr>
              <a:t>.</a:t>
            </a:r>
          </a:p>
          <a:p>
            <a:r>
              <a:rPr lang="en-US" dirty="0">
                <a:solidFill>
                  <a:schemeClr val="tx1"/>
                </a:solidFill>
                <a:latin typeface="+mn-lt"/>
                <a:ea typeface="+mn-ea"/>
                <a:cs typeface="+mn-cs"/>
              </a:rPr>
              <a:t>It must meet </a:t>
            </a:r>
            <a:r>
              <a:rPr lang="en-US" dirty="0">
                <a:solidFill>
                  <a:srgbClr val="FF0000"/>
                </a:solidFill>
                <a:latin typeface="+mn-lt"/>
                <a:ea typeface="+mn-ea"/>
                <a:cs typeface="+mn-cs"/>
              </a:rPr>
              <a:t>time, budget, </a:t>
            </a:r>
            <a:r>
              <a:rPr lang="en-US" dirty="0">
                <a:latin typeface="+mn-lt"/>
                <a:ea typeface="+mn-ea"/>
                <a:cs typeface="+mn-cs"/>
              </a:rPr>
              <a:t>and</a:t>
            </a:r>
            <a:r>
              <a:rPr lang="en-US" dirty="0">
                <a:solidFill>
                  <a:srgbClr val="FF0000"/>
                </a:solidFill>
                <a:latin typeface="+mn-lt"/>
                <a:ea typeface="+mn-ea"/>
                <a:cs typeface="+mn-cs"/>
              </a:rPr>
              <a:t> quality constraints</a:t>
            </a:r>
            <a:r>
              <a:rPr lang="en-US"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2"/>
          </p:nvPr>
        </p:nvSpPr>
        <p:spPr/>
        <p:txBody>
          <a:bodyPr/>
          <a:lstStyle/>
          <a:p>
            <a:pPr>
              <a:defRPr/>
            </a:pPr>
            <a:fld id="{33718155-627D-40BF-A819-03F0E204AC94}"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Methodology</a:t>
            </a:r>
          </a:p>
        </p:txBody>
      </p:sp>
      <p:sp>
        <p:nvSpPr>
          <p:cNvPr id="3" name="Content Placeholder 2"/>
          <p:cNvSpPr>
            <a:spLocks noGrp="1"/>
          </p:cNvSpPr>
          <p:nvPr>
            <p:ph idx="1"/>
          </p:nvPr>
        </p:nvSpPr>
        <p:spPr/>
        <p:txBody>
          <a:bodyPr/>
          <a:lstStyle/>
          <a:p>
            <a:r>
              <a:rPr lang="en-US" dirty="0"/>
              <a:t>What is your </a:t>
            </a:r>
            <a:r>
              <a:rPr lang="en-US" dirty="0">
                <a:solidFill>
                  <a:srgbClr val="FF0000"/>
                </a:solidFill>
              </a:rPr>
              <a:t>approach to the study </a:t>
            </a:r>
            <a:r>
              <a:rPr lang="en-US" dirty="0"/>
              <a:t>(i.e., design and implementation)? </a:t>
            </a:r>
          </a:p>
          <a:p>
            <a:r>
              <a:rPr lang="en-US" dirty="0"/>
              <a:t>What data collection procedures will you employ? </a:t>
            </a:r>
          </a:p>
          <a:p>
            <a:r>
              <a:rPr lang="en-US" dirty="0"/>
              <a:t>How will you analyze the data? </a:t>
            </a:r>
          </a:p>
          <a:p>
            <a:r>
              <a:rPr lang="en-US" dirty="0"/>
              <a:t>How will you ensure the validity and reliability of the results? </a:t>
            </a:r>
          </a:p>
          <a:p>
            <a:r>
              <a:rPr lang="en-US" dirty="0"/>
              <a:t>You can prepare 3-4 slides for methodology, which should consists of flowchart/algorithm and required mathematics </a:t>
            </a:r>
          </a:p>
        </p:txBody>
      </p:sp>
      <p:sp>
        <p:nvSpPr>
          <p:cNvPr id="4" name="Slide Number Placeholder 3"/>
          <p:cNvSpPr>
            <a:spLocks noGrp="1"/>
          </p:cNvSpPr>
          <p:nvPr>
            <p:ph type="sldNum" sz="quarter" idx="12"/>
          </p:nvPr>
        </p:nvSpPr>
        <p:spPr/>
        <p:txBody>
          <a:bodyPr/>
          <a:lstStyle/>
          <a:p>
            <a:pPr>
              <a:defRPr/>
            </a:pPr>
            <a:fld id="{33718155-627D-40BF-A819-03F0E204AC94}"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GUI View</a:t>
            </a:r>
          </a:p>
        </p:txBody>
      </p:sp>
      <p:sp>
        <p:nvSpPr>
          <p:cNvPr id="3" name="Content Placeholder 2"/>
          <p:cNvSpPr>
            <a:spLocks noGrp="1"/>
          </p:cNvSpPr>
          <p:nvPr>
            <p:ph idx="1"/>
          </p:nvPr>
        </p:nvSpPr>
        <p:spPr/>
        <p:txBody>
          <a:bodyPr/>
          <a:lstStyle/>
          <a:p>
            <a:r>
              <a:rPr lang="en-US" dirty="0"/>
              <a:t>Draw the diagram of the front end of your project</a:t>
            </a:r>
          </a:p>
          <a:p>
            <a:r>
              <a:rPr lang="en-US" dirty="0"/>
              <a:t>How your application/project will look after completion?</a:t>
            </a:r>
          </a:p>
          <a:p>
            <a:r>
              <a:rPr lang="en-US" dirty="0"/>
              <a:t>Mention </a:t>
            </a:r>
            <a:r>
              <a:rPr lang="en-US" dirty="0">
                <a:solidFill>
                  <a:srgbClr val="FF0000"/>
                </a:solidFill>
              </a:rPr>
              <a:t>all</a:t>
            </a:r>
            <a:r>
              <a:rPr lang="en-US" dirty="0"/>
              <a:t> options (buttons, windows, menu bar, etc….) in the diagram</a:t>
            </a:r>
          </a:p>
          <a:p>
            <a:endParaRPr lang="en-US" dirty="0"/>
          </a:p>
        </p:txBody>
      </p:sp>
      <p:sp>
        <p:nvSpPr>
          <p:cNvPr id="4" name="Slide Number Placeholder 3"/>
          <p:cNvSpPr>
            <a:spLocks noGrp="1"/>
          </p:cNvSpPr>
          <p:nvPr>
            <p:ph type="sldNum" sz="quarter" idx="12"/>
          </p:nvPr>
        </p:nvSpPr>
        <p:spPr/>
        <p:txBody>
          <a:bodyPr/>
          <a:lstStyle/>
          <a:p>
            <a:pPr>
              <a:defRPr/>
            </a:pPr>
            <a:fld id="{33718155-627D-40BF-A819-03F0E204AC94}"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a:t>
            </a:r>
          </a:p>
        </p:txBody>
      </p:sp>
      <p:sp>
        <p:nvSpPr>
          <p:cNvPr id="3" name="Content Placeholder 2"/>
          <p:cNvSpPr>
            <a:spLocks noGrp="1"/>
          </p:cNvSpPr>
          <p:nvPr>
            <p:ph idx="1"/>
          </p:nvPr>
        </p:nvSpPr>
        <p:spPr/>
        <p:txBody>
          <a:bodyPr/>
          <a:lstStyle/>
          <a:p>
            <a:r>
              <a:rPr lang="en-US" dirty="0"/>
              <a:t>List out the practical applications and real-life relevance of your project.</a:t>
            </a:r>
          </a:p>
        </p:txBody>
      </p:sp>
      <p:sp>
        <p:nvSpPr>
          <p:cNvPr id="4" name="Slide Number Placeholder 3"/>
          <p:cNvSpPr>
            <a:spLocks noGrp="1"/>
          </p:cNvSpPr>
          <p:nvPr>
            <p:ph type="sldNum" sz="quarter" idx="12"/>
          </p:nvPr>
        </p:nvSpPr>
        <p:spPr/>
        <p:txBody>
          <a:bodyPr/>
          <a:lstStyle/>
          <a:p>
            <a:pPr>
              <a:defRPr/>
            </a:pPr>
            <a:fld id="{33718155-627D-40BF-A819-03F0E204AC94}"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Time Plan</a:t>
            </a:r>
          </a:p>
        </p:txBody>
      </p:sp>
      <p:graphicFrame>
        <p:nvGraphicFramePr>
          <p:cNvPr id="5" name="Content Placeholder 4"/>
          <p:cNvGraphicFramePr>
            <a:graphicFrameLocks noGrp="1"/>
          </p:cNvGraphicFramePr>
          <p:nvPr>
            <p:ph idx="1"/>
          </p:nvPr>
        </p:nvGraphicFramePr>
        <p:xfrm>
          <a:off x="457200" y="1600200"/>
          <a:ext cx="7924800" cy="3886201"/>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323850">
                <a:tc rowSpan="2">
                  <a:txBody>
                    <a:bodyPr/>
                    <a:lstStyle/>
                    <a:p>
                      <a:r>
                        <a:rPr lang="en-US" sz="1400" dirty="0"/>
                        <a:t>Phases</a:t>
                      </a:r>
                    </a:p>
                  </a:txBody>
                  <a:tcPr/>
                </a:tc>
                <a:tc gridSpan="4">
                  <a:txBody>
                    <a:bodyPr/>
                    <a:lstStyle/>
                    <a:p>
                      <a:pPr algn="ctr"/>
                      <a:r>
                        <a:rPr lang="en-US" sz="1400" dirty="0"/>
                        <a:t>Weeks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3850">
                <a:tc vMerge="1">
                  <a:txBody>
                    <a:bodyPr/>
                    <a:lstStyle/>
                    <a:p>
                      <a:endParaRPr lang="en-US" dirty="0"/>
                    </a:p>
                  </a:txBody>
                  <a:tcPr/>
                </a:tc>
                <a:tc>
                  <a:txBody>
                    <a:bodyPr/>
                    <a:lstStyle/>
                    <a:p>
                      <a:r>
                        <a:rPr lang="en-US" sz="1400" dirty="0"/>
                        <a:t>1</a:t>
                      </a:r>
                    </a:p>
                  </a:txBody>
                  <a:tcPr/>
                </a:tc>
                <a:tc>
                  <a:txBody>
                    <a:bodyPr/>
                    <a:lstStyle/>
                    <a:p>
                      <a:r>
                        <a:rPr lang="en-US" sz="1400" dirty="0"/>
                        <a:t>2</a:t>
                      </a:r>
                    </a:p>
                  </a:txBody>
                  <a:tcPr/>
                </a:tc>
                <a:tc>
                  <a:txBody>
                    <a:bodyPr/>
                    <a:lstStyle/>
                    <a:p>
                      <a:r>
                        <a:rPr lang="en-US" sz="1400" dirty="0"/>
                        <a:t>3</a:t>
                      </a:r>
                    </a:p>
                  </a:txBody>
                  <a:tcPr/>
                </a:tc>
                <a:tc>
                  <a:txBody>
                    <a:bodyPr/>
                    <a:lstStyle/>
                    <a:p>
                      <a:r>
                        <a:rPr lang="en-US" sz="1400" dirty="0"/>
                        <a:t>4</a:t>
                      </a:r>
                    </a:p>
                  </a:txBody>
                  <a:tcPr/>
                </a:tc>
                <a:extLst>
                  <a:ext uri="{0D108BD9-81ED-4DB2-BD59-A6C34878D82A}">
                    <a16:rowId xmlns:a16="http://schemas.microsoft.com/office/drawing/2014/main" val="10001"/>
                  </a:ext>
                </a:extLst>
              </a:tr>
              <a:tr h="809625">
                <a:tc>
                  <a:txBody>
                    <a:bodyPr/>
                    <a:lstStyle/>
                    <a:p>
                      <a:r>
                        <a:rPr lang="en-US" sz="1400" dirty="0"/>
                        <a:t>1. Literature Review</a:t>
                      </a:r>
                    </a:p>
                  </a:txBody>
                  <a:tcPr/>
                </a:tc>
                <a:tc gridSpan="2">
                  <a:txBody>
                    <a:bodyPr/>
                    <a:lstStyle/>
                    <a:p>
                      <a:r>
                        <a:rPr lang="en-US" sz="1400" dirty="0"/>
                        <a:t>To conduct the literature survey and to final the Project Title.</a:t>
                      </a:r>
                    </a:p>
                  </a:txBody>
                  <a:tcPr>
                    <a:solidFill>
                      <a:srgbClr val="00B0F0"/>
                    </a:solidFill>
                  </a:tcPr>
                </a:tc>
                <a:tc hMerge="1">
                  <a:txBody>
                    <a:bodyPr/>
                    <a:lstStyle/>
                    <a:p>
                      <a:endParaRPr lang="en-US" dirty="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0002"/>
                  </a:ext>
                </a:extLst>
              </a:tr>
              <a:tr h="566738">
                <a:tc>
                  <a:txBody>
                    <a:bodyPr/>
                    <a:lstStyle/>
                    <a:p>
                      <a:r>
                        <a:rPr lang="en-US" sz="1400" dirty="0"/>
                        <a:t>2.</a:t>
                      </a:r>
                      <a:r>
                        <a:rPr lang="en-US" sz="1400" baseline="0" dirty="0"/>
                        <a:t> …..</a:t>
                      </a:r>
                      <a:endParaRPr lang="en-US" sz="1400" dirty="0"/>
                    </a:p>
                  </a:txBody>
                  <a:tcPr/>
                </a:tc>
                <a:tc>
                  <a:txBody>
                    <a:bodyPr/>
                    <a:lstStyle/>
                    <a:p>
                      <a:endParaRPr lang="en-US" sz="1400" dirty="0"/>
                    </a:p>
                  </a:txBody>
                  <a:tcPr/>
                </a:tc>
                <a:tc>
                  <a:txBody>
                    <a:bodyPr/>
                    <a:lstStyle/>
                    <a:p>
                      <a:endParaRPr lang="en-US" sz="1400" dirty="0"/>
                    </a:p>
                  </a:txBody>
                  <a:tcPr/>
                </a:tc>
                <a:tc>
                  <a:txBody>
                    <a:bodyPr/>
                    <a:lstStyle/>
                    <a:p>
                      <a:r>
                        <a:rPr lang="en-US" sz="1400" dirty="0" err="1"/>
                        <a:t>xxxxxxxxxxxx</a:t>
                      </a:r>
                      <a:endParaRPr lang="en-US" sz="1400" dirty="0"/>
                    </a:p>
                  </a:txBody>
                  <a:tcPr>
                    <a:solidFill>
                      <a:srgbClr val="00B0F0"/>
                    </a:solidFill>
                  </a:tcPr>
                </a:tc>
                <a:tc>
                  <a:txBody>
                    <a:bodyPr/>
                    <a:lstStyle/>
                    <a:p>
                      <a:endParaRPr lang="en-US" sz="1400" dirty="0"/>
                    </a:p>
                  </a:txBody>
                  <a:tcPr/>
                </a:tc>
                <a:extLst>
                  <a:ext uri="{0D108BD9-81ED-4DB2-BD59-A6C34878D82A}">
                    <a16:rowId xmlns:a16="http://schemas.microsoft.com/office/drawing/2014/main" val="10003"/>
                  </a:ext>
                </a:extLst>
              </a:tr>
              <a:tr h="323850">
                <a:tc>
                  <a:txBody>
                    <a:bodyPr/>
                    <a:lstStyle/>
                    <a:p>
                      <a:r>
                        <a:rPr lang="en-US" sz="1400" dirty="0"/>
                        <a:t>……</a:t>
                      </a:r>
                    </a:p>
                  </a:txBody>
                  <a:tcPr/>
                </a:tc>
                <a:tc>
                  <a:txBody>
                    <a:bodyPr/>
                    <a:lstStyle/>
                    <a:p>
                      <a:endParaRPr lang="en-US" sz="1400" dirty="0"/>
                    </a:p>
                  </a:txBody>
                  <a:tcPr/>
                </a:tc>
                <a:tc>
                  <a:txBody>
                    <a:bodyPr/>
                    <a:lstStyle/>
                    <a:p>
                      <a:endParaRPr lang="en-US" sz="1400"/>
                    </a:p>
                  </a:txBody>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4"/>
                  </a:ext>
                </a:extLst>
              </a:tr>
              <a:tr h="323850">
                <a:tc>
                  <a:txBody>
                    <a:bodyPr/>
                    <a:lstStyle/>
                    <a:p>
                      <a:r>
                        <a:rPr lang="en-US" sz="1400" dirty="0"/>
                        <a:t>Testing</a:t>
                      </a:r>
                    </a:p>
                  </a:txBody>
                  <a:tcPr/>
                </a:tc>
                <a:tc>
                  <a:txBody>
                    <a:bodyPr/>
                    <a:lstStyle/>
                    <a:p>
                      <a:endParaRPr lang="en-US" sz="1400" dirty="0"/>
                    </a:p>
                  </a:txBody>
                  <a:tcPr/>
                </a:tc>
                <a:tc>
                  <a:txBody>
                    <a:bodyPr/>
                    <a:lstStyle/>
                    <a:p>
                      <a:endParaRPr lang="en-US" sz="140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0005"/>
                  </a:ext>
                </a:extLst>
              </a:tr>
              <a:tr h="323850">
                <a:tc>
                  <a:txBody>
                    <a:bodyPr/>
                    <a:lstStyle/>
                    <a:p>
                      <a:r>
                        <a:rPr lang="en-US" sz="1400" dirty="0"/>
                        <a:t>Validation</a:t>
                      </a:r>
                    </a:p>
                  </a:txBody>
                  <a:tcPr/>
                </a:tc>
                <a:tc>
                  <a:txBody>
                    <a:bodyPr/>
                    <a:lstStyle/>
                    <a:p>
                      <a:endParaRPr lang="en-US" sz="1400"/>
                    </a:p>
                  </a:txBody>
                  <a:tcPr/>
                </a:tc>
                <a:tc>
                  <a:txBody>
                    <a:bodyPr/>
                    <a:lstStyle/>
                    <a:p>
                      <a:endParaRPr lang="en-US" sz="1400" dirty="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0006"/>
                  </a:ext>
                </a:extLst>
              </a:tr>
              <a:tr h="566738">
                <a:tc>
                  <a:txBody>
                    <a:bodyPr/>
                    <a:lstStyle/>
                    <a:p>
                      <a:r>
                        <a:rPr lang="en-US" sz="1400" dirty="0"/>
                        <a:t>Report</a:t>
                      </a:r>
                      <a:r>
                        <a:rPr lang="en-US" sz="1400" baseline="0" dirty="0"/>
                        <a:t> Writing</a:t>
                      </a:r>
                      <a:endParaRPr lang="en-US" sz="1400" dirty="0"/>
                    </a:p>
                  </a:txBody>
                  <a:tcPr/>
                </a:tc>
                <a:tc>
                  <a:txBody>
                    <a:bodyPr/>
                    <a:lstStyle/>
                    <a:p>
                      <a:endParaRPr lang="en-US" sz="1400"/>
                    </a:p>
                  </a:txBody>
                  <a:tcPr/>
                </a:tc>
                <a:tc>
                  <a:txBody>
                    <a:bodyPr/>
                    <a:lstStyle/>
                    <a:p>
                      <a:endParaRPr lang="en-US" sz="1400" dirty="0"/>
                    </a:p>
                  </a:txBody>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7"/>
                  </a:ext>
                </a:extLst>
              </a:tr>
              <a:tr h="323850">
                <a:tc>
                  <a:txBody>
                    <a:bodyPr/>
                    <a:lstStyle/>
                    <a:p>
                      <a:endParaRPr lang="en-US" sz="1400" dirty="0"/>
                    </a:p>
                  </a:txBody>
                  <a:tcPr/>
                </a:tc>
                <a:tc>
                  <a:txBody>
                    <a:bodyPr/>
                    <a:lstStyle/>
                    <a:p>
                      <a:endParaRPr lang="en-US" sz="1400"/>
                    </a:p>
                  </a:txBody>
                  <a:tcPr/>
                </a:tc>
                <a:tc>
                  <a:txBody>
                    <a:bodyPr/>
                    <a:lstStyle/>
                    <a:p>
                      <a:endParaRPr lang="en-US" sz="1400" dirty="0"/>
                    </a:p>
                  </a:txBody>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8"/>
                  </a:ext>
                </a:extLst>
              </a:tr>
            </a:tbl>
          </a:graphicData>
        </a:graphic>
      </p:graphicFrame>
      <p:sp>
        <p:nvSpPr>
          <p:cNvPr id="4" name="Slide Number Placeholder 3"/>
          <p:cNvSpPr>
            <a:spLocks noGrp="1"/>
          </p:cNvSpPr>
          <p:nvPr>
            <p:ph type="sldNum" sz="quarter" idx="12"/>
          </p:nvPr>
        </p:nvSpPr>
        <p:spPr/>
        <p:txBody>
          <a:bodyPr/>
          <a:lstStyle/>
          <a:p>
            <a:pPr>
              <a:defRPr/>
            </a:pPr>
            <a:fld id="{33718155-627D-40BF-A819-03F0E204AC94}" type="slidenum">
              <a:rPr lang="en-US" smtClean="0"/>
              <a:pPr>
                <a:defRPr/>
              </a:pPr>
              <a:t>12</a:t>
            </a:fld>
            <a:endParaRPr lang="en-US"/>
          </a:p>
        </p:txBody>
      </p:sp>
      <p:sp>
        <p:nvSpPr>
          <p:cNvPr id="6" name="TextBox 5"/>
          <p:cNvSpPr txBox="1"/>
          <p:nvPr/>
        </p:nvSpPr>
        <p:spPr>
          <a:xfrm>
            <a:off x="152400" y="5638800"/>
            <a:ext cx="8991600" cy="923330"/>
          </a:xfrm>
          <a:prstGeom prst="rect">
            <a:avLst/>
          </a:prstGeom>
          <a:noFill/>
        </p:spPr>
        <p:txBody>
          <a:bodyPr wrap="square" rtlCol="0">
            <a:spAutoFit/>
          </a:bodyPr>
          <a:lstStyle/>
          <a:p>
            <a:r>
              <a:rPr lang="en-US" dirty="0">
                <a:solidFill>
                  <a:srgbClr val="FF0000"/>
                </a:solidFill>
              </a:rPr>
              <a:t>A tentative time plan layout is provided. You can modify it. </a:t>
            </a:r>
          </a:p>
          <a:p>
            <a:r>
              <a:rPr lang="en-US" dirty="0">
                <a:solidFill>
                  <a:srgbClr val="FF0000"/>
                </a:solidFill>
              </a:rPr>
              <a:t>Add different project development phases in detail. </a:t>
            </a:r>
          </a:p>
          <a:p>
            <a:r>
              <a:rPr lang="en-US" dirty="0">
                <a:solidFill>
                  <a:srgbClr val="FF0000"/>
                </a:solidFill>
              </a:rPr>
              <a:t>Prepare the plan from first week of August 2019 to Last week of Nov. 2019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References</a:t>
            </a:r>
          </a:p>
        </p:txBody>
      </p:sp>
      <p:sp>
        <p:nvSpPr>
          <p:cNvPr id="3" name="Content Placeholder 2"/>
          <p:cNvSpPr>
            <a:spLocks noGrp="1"/>
          </p:cNvSpPr>
          <p:nvPr>
            <p:ph idx="1"/>
          </p:nvPr>
        </p:nvSpPr>
        <p:spPr/>
        <p:txBody>
          <a:bodyPr/>
          <a:lstStyle/>
          <a:p>
            <a:r>
              <a:rPr lang="en-US" dirty="0"/>
              <a:t>Specify the references in IEEE style only.</a:t>
            </a:r>
          </a:p>
        </p:txBody>
      </p:sp>
      <p:sp>
        <p:nvSpPr>
          <p:cNvPr id="4" name="Slide Number Placeholder 3"/>
          <p:cNvSpPr>
            <a:spLocks noGrp="1"/>
          </p:cNvSpPr>
          <p:nvPr>
            <p:ph type="sldNum" sz="quarter" idx="12"/>
          </p:nvPr>
        </p:nvSpPr>
        <p:spPr/>
        <p:txBody>
          <a:bodyPr/>
          <a:lstStyle/>
          <a:p>
            <a:pPr>
              <a:defRPr/>
            </a:pPr>
            <a:fld id="{33718155-627D-40BF-A819-03F0E204AC94}" type="slidenum">
              <a:rPr lang="en-US" smtClean="0"/>
              <a:pPr>
                <a:defRPr/>
              </a:pPr>
              <a:t>13</a:t>
            </a:fld>
            <a:endParaRPr lang="en-US"/>
          </a:p>
        </p:txBody>
      </p:sp>
    </p:spTree>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437</TotalTime>
  <Words>434</Words>
  <Application>Microsoft Office PowerPoint</Application>
  <PresentationFormat>On-screen Show (4:3)</PresentationFormat>
  <Paragraphs>82</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Garamond</vt:lpstr>
      <vt:lpstr>Tahoma</vt:lpstr>
      <vt:lpstr>Times New Roman</vt:lpstr>
      <vt:lpstr>Verdana</vt:lpstr>
      <vt:lpstr>Wingdings</vt:lpstr>
      <vt:lpstr>Level</vt:lpstr>
      <vt:lpstr>FOURIER ANALYSIS OF SIGNAL</vt:lpstr>
      <vt:lpstr>Outline</vt:lpstr>
      <vt:lpstr>Abstract</vt:lpstr>
      <vt:lpstr>Literature Review</vt:lpstr>
      <vt:lpstr>General Equation</vt:lpstr>
      <vt:lpstr>Coefficients</vt:lpstr>
      <vt:lpstr>Representation</vt:lpstr>
      <vt:lpstr>Objectives</vt:lpstr>
      <vt:lpstr>Methodology</vt:lpstr>
      <vt:lpstr>GUI View</vt:lpstr>
      <vt:lpstr>Applications</vt:lpstr>
      <vt:lpstr>Time Plan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TSSM’s BHIVARABAI SAWANT COLLEGE OF ENGINEERING AND RESEARCH, NARHE</dc:title>
  <dc:creator>nec</dc:creator>
  <cp:lastModifiedBy>Sampada petkar</cp:lastModifiedBy>
  <cp:revision>35</cp:revision>
  <dcterms:created xsi:type="dcterms:W3CDTF">2013-08-02T04:14:07Z</dcterms:created>
  <dcterms:modified xsi:type="dcterms:W3CDTF">2018-10-19T08:20:15Z</dcterms:modified>
</cp:coreProperties>
</file>